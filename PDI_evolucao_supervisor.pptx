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937"/>
                </a:solidFill>
                <a:latin typeface="Arial"/>
              </a:rPr>
              <a:t>Nota semanal de controle emocional (1 a 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Controle emocional</c:v>
                </c:pt>
              </c:strCache>
            </c:strRef>
          </c:tx>
          <c:spPr>
            <a:solidFill>
              <a:srgbClr val="113E73"/>
            </a:solidFill>
          </c:spPr>
          <c:cat>
            <c:strRef>
              <c:f>Sheet1!$A$2:$A$5</c:f>
              <c:strCache>
                <c:ptCount val="4"/>
                <c:pt idx="0">
                  <c:v>Sem. 1</c:v>
                </c:pt>
                <c:pt idx="1">
                  <c:v>Sem. 2</c:v>
                </c:pt>
                <c:pt idx="2">
                  <c:v>Sem. 3</c:v>
                </c:pt>
                <c:pt idx="3">
                  <c:v>Sem.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E73"/>
          </a:solidFill>
          <a:ln>
            <a:solidFill>
              <a:srgbClr val="113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1089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Evolucao do Controle Emocional do Supervisor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93776"/>
            <a:ext cx="8046720" cy="1828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100" b="0">
                <a:solidFill>
                  <a:srgbClr val="E6EEF8"/>
                </a:solidFill>
                <a:latin typeface="Arial"/>
              </a:rPr>
              <a:t>Acompanhamento comportamental com base em situacoes reais de contrariedade, negativas e feedbacks.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24612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000" b="0">
                <a:solidFill>
                  <a:srgbClr val="E6EEF8"/>
                </a:solidFill>
                <a:latin typeface="Arial"/>
              </a:rPr>
              <a:t>Edite os campos: nome do supervisor, periodo e datas.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3840480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Arial"/>
              </a:rPr>
              <a:t>Supervisor: [nome]   |   Periodo avaliado: [mes/ano a mes/ano]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5806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554480"/>
            <a:ext cx="5513832" cy="2560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00" b="1">
                <a:solidFill>
                  <a:srgbClr val="113E73"/>
                </a:solidFill>
                <a:latin typeface="Arial"/>
              </a:rPr>
              <a:t>Antes x Agora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883664"/>
            <a:ext cx="2638044" cy="292608"/>
          </a:xfrm>
          <a:prstGeom prst="rect">
            <a:avLst/>
          </a:prstGeom>
          <a:solidFill>
            <a:srgbClr val="FFEDED"/>
          </a:solidFill>
          <a:ln>
            <a:solidFill>
              <a:srgbClr val="FFEDED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7268" y="1883664"/>
            <a:ext cx="2638044" cy="292608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Agora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231136"/>
            <a:ext cx="2638044" cy="475488"/>
          </a:xfrm>
          <a:prstGeom prst="rect">
            <a:avLst/>
          </a:prstGeom>
          <a:solidFill>
            <a:srgbClr val="FCF8F8"/>
          </a:solidFill>
          <a:ln>
            <a:solidFill>
              <a:srgbClr val="FCF8F8"/>
            </a:solidFill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Reagia de forma mais defensiva diante de negativas.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7268" y="2231136"/>
            <a:ext cx="2638044" cy="475488"/>
          </a:xfrm>
          <a:prstGeom prst="rect">
            <a:avLst/>
          </a:prstGeom>
          <a:solidFill>
            <a:srgbClr val="F6FCF7"/>
          </a:solidFill>
          <a:ln>
            <a:solidFill>
              <a:srgbClr val="F6FCF7"/>
            </a:solidFill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Demonstra mais pausa antes de responder.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779776"/>
            <a:ext cx="2638044" cy="475488"/>
          </a:xfrm>
          <a:prstGeom prst="rect">
            <a:avLst/>
          </a:prstGeom>
          <a:solidFill>
            <a:srgbClr val="FCF8F8"/>
          </a:solidFill>
          <a:ln>
            <a:solidFill>
              <a:srgbClr val="FCF8F8"/>
            </a:solidFill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Tinha dificuldade em ouvir feedback sem se justificar.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7268" y="2779776"/>
            <a:ext cx="2638044" cy="475488"/>
          </a:xfrm>
          <a:prstGeom prst="rect">
            <a:avLst/>
          </a:prstGeom>
          <a:solidFill>
            <a:srgbClr val="F6FCF7"/>
          </a:solidFill>
          <a:ln>
            <a:solidFill>
              <a:srgbClr val="F6FCF7"/>
            </a:solidFill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Escuta com mais abertura e reduz justificativas.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3328416"/>
            <a:ext cx="2638044" cy="475488"/>
          </a:xfrm>
          <a:prstGeom prst="rect">
            <a:avLst/>
          </a:prstGeom>
          <a:solidFill>
            <a:srgbClr val="FCF8F8"/>
          </a:solidFill>
          <a:ln>
            <a:solidFill>
              <a:srgbClr val="FCF8F8"/>
            </a:solidFill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Mostrava incomodo visivel em situacoes de contrariedade.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7268" y="3328416"/>
            <a:ext cx="2638044" cy="475488"/>
          </a:xfrm>
          <a:prstGeom prst="rect">
            <a:avLst/>
          </a:prstGeom>
          <a:solidFill>
            <a:srgbClr val="F6FCF7"/>
          </a:solidFill>
          <a:ln>
            <a:solidFill>
              <a:srgbClr val="F6FCF7"/>
            </a:solidFill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Mantem postura mais equilibrada e profissional.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877056"/>
            <a:ext cx="2638044" cy="475488"/>
          </a:xfrm>
          <a:prstGeom prst="rect">
            <a:avLst/>
          </a:prstGeom>
          <a:solidFill>
            <a:srgbClr val="FCF8F8"/>
          </a:solidFill>
          <a:ln>
            <a:solidFill>
              <a:srgbClr val="FCF8F8"/>
            </a:solidFill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Foco inicial maior na reacao do que na solucao.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7268" y="3877056"/>
            <a:ext cx="2638044" cy="475488"/>
          </a:xfrm>
          <a:prstGeom prst="rect">
            <a:avLst/>
          </a:prstGeom>
          <a:solidFill>
            <a:srgbClr val="F6FCF7"/>
          </a:solidFill>
          <a:ln>
            <a:solidFill>
              <a:srgbClr val="F6FCF7"/>
            </a:solidFill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Apresenta maior foco em alternativas e solucao.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463040"/>
            <a:ext cx="5321808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1554480"/>
            <a:ext cx="5029200" cy="2560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00" b="1">
                <a:solidFill>
                  <a:srgbClr val="113E73"/>
                </a:solidFill>
                <a:latin typeface="Arial"/>
              </a:rPr>
              <a:t>Semaforo de comportamentos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1755648"/>
            <a:ext cx="242316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Arial"/>
              </a:rPr>
              <a:t>Situacao observada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55648"/>
            <a:ext cx="64008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000" b="1">
                <a:solidFill>
                  <a:srgbClr val="4B5563"/>
                </a:solidFill>
                <a:latin typeface="Arial"/>
              </a:rPr>
              <a:t>Antes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755648"/>
            <a:ext cx="658368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000" b="1">
                <a:solidFill>
                  <a:srgbClr val="4B5563"/>
                </a:solidFill>
                <a:latin typeface="Arial"/>
              </a:rPr>
              <a:t>Atual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2824" y="1938528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Receber feedback corretivo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975104"/>
            <a:ext cx="530352" cy="25603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984248"/>
            <a:ext cx="5303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Risco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1975104"/>
            <a:ext cx="566928" cy="2560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984248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Evolucao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824" y="2450592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Ouvir uma negativa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2487168"/>
            <a:ext cx="530352" cy="25603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496312"/>
            <a:ext cx="5303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Risco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2487168"/>
            <a:ext cx="566928" cy="25603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2496312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Adequado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2824" y="2962656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Ser contrariado em reuniao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2999232"/>
            <a:ext cx="530352" cy="25603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008376"/>
            <a:ext cx="5303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Risco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2999232"/>
            <a:ext cx="566928" cy="2560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3008376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Evolucao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2824" y="3474720"/>
            <a:ext cx="2331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Responder sem justificativa excessiva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511296"/>
            <a:ext cx="530352" cy="256032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520440"/>
            <a:ext cx="53035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Risco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40" y="3511296"/>
            <a:ext cx="566928" cy="2560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3520440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Evolucao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2824" y="5056631"/>
            <a:ext cx="5029200" cy="21945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Arial"/>
              </a:rPr>
              <a:t>Legenda: vermelho = reacao inadequada | amarelo = parcial/em evolucao | verde = adequado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577840"/>
            <a:ext cx="11356848" cy="749808"/>
          </a:xfrm>
          <a:prstGeom prst="roundRect">
            <a:avLst/>
          </a:prstGeom>
          <a:solidFill>
            <a:srgbClr val="E0EFFF"/>
          </a:solidFill>
          <a:ln>
            <a:solidFill>
              <a:srgbClr val="B9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" y="5669280"/>
            <a:ext cx="11064240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200" b="1">
                <a:solidFill>
                  <a:srgbClr val="113E73"/>
                </a:solidFill>
                <a:latin typeface="Arial"/>
              </a:rPr>
              <a:t>Mensagem-chave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" y="5870448"/>
            <a:ext cx="11064240" cy="31089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rial"/>
              </a:rPr>
              <a:t>Ha evolucao perceptivel no autocontrole, com avancos na escuta, menor impulsividade e comunicacao mais equilibrada diante de negativas e feedbacks.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3E73"/>
          </a:solidFill>
          <a:ln>
            <a:solidFill>
              <a:srgbClr val="113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8046720" cy="310896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Evidencias de Evolucao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93776"/>
            <a:ext cx="8046720" cy="1828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100" b="0">
                <a:solidFill>
                  <a:srgbClr val="E6EEF8"/>
                </a:solidFill>
                <a:latin typeface="Arial"/>
              </a:rPr>
              <a:t>Resumo visual para apresentacao de acompanhamento e desenvolvimento.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64592"/>
            <a:ext cx="324612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000" b="0">
                <a:solidFill>
                  <a:srgbClr val="E6EEF8"/>
                </a:solidFill>
                <a:latin typeface="Arial"/>
              </a:rPr>
              <a:t>Edite os campos: nome do supervisor, periodo e datas.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325880"/>
          <a:ext cx="5257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89320" y="1325880"/>
            <a:ext cx="5669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53912" y="1417320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13E73"/>
                </a:solidFill>
                <a:latin typeface="Arial"/>
              </a:rPr>
              <a:t>Evidencias observadas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1746504"/>
            <a:ext cx="5340096" cy="131673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Em situacoes recentes de negativa, apresentou resposta mais contida e respeitosa.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Demonstrou maior capacidade de ouvir feedback antes de responder.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Reduziu a necessidade de justificativas longas em conversas de alinhamento.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Passou a direcionar a conversa com mais foco em alternativas e solucao.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337560"/>
            <a:ext cx="5669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3429000"/>
            <a:ext cx="5340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13E73"/>
                </a:solidFill>
                <a:latin typeface="Arial"/>
              </a:rPr>
              <a:t>Leitura executiva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3758184"/>
            <a:ext cx="5340096" cy="12252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A evolucao e percebida pela reducao de reacoes impulsivas.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Ha maior abertura para escuta e menor defensividade.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O comportamento atual ja sustenta conversas mais produtivas e profissionais.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5623560" cy="2560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00" b="1">
                <a:solidFill>
                  <a:srgbClr val="113E73"/>
                </a:solidFill>
                <a:latin typeface="Arial"/>
              </a:rPr>
              <a:t>Linha do tempo de evolucao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39512"/>
            <a:ext cx="5166360" cy="36576"/>
          </a:xfrm>
          <a:prstGeom prst="rect">
            <a:avLst/>
          </a:prstGeom>
          <a:solidFill>
            <a:srgbClr val="BDC7D2"/>
          </a:solidFill>
          <a:ln>
            <a:solidFill>
              <a:srgbClr val="BDC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5129784"/>
            <a:ext cx="256032" cy="256032"/>
          </a:xfrm>
          <a:prstGeom prst="ellipse">
            <a:avLst/>
          </a:prstGeom>
          <a:solidFill>
            <a:srgbClr val="113E73"/>
          </a:solidFill>
          <a:ln>
            <a:solidFill>
              <a:srgbClr val="113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22392"/>
            <a:ext cx="914400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Inicio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41848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rial"/>
              </a:rPr>
              <a:t>Reacao mais defensiva e maior dificuldade com contrariedades.</a:t>
            </a:r>
          </a:p>
        </p:txBody>
      </p:sp>
      <p:sp>
        <p:nvSpPr>
          <p:cNvPr id="18" name="Oval 17"/>
          <p:cNvSpPr/>
          <p:nvPr/>
        </p:nvSpPr>
        <p:spPr>
          <a:xfrm>
            <a:off x="2834640" y="5129784"/>
            <a:ext cx="256032" cy="256032"/>
          </a:xfrm>
          <a:prstGeom prst="ellipse">
            <a:avLst/>
          </a:prstGeom>
          <a:solidFill>
            <a:srgbClr val="113E73"/>
          </a:solidFill>
          <a:ln>
            <a:solidFill>
              <a:srgbClr val="113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5422392"/>
            <a:ext cx="914400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Meio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641848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rial"/>
              </a:rPr>
              <a:t>Passou a ouvir mais, apesar de ainda justificar em alguns momentos.</a:t>
            </a:r>
          </a:p>
        </p:txBody>
      </p:sp>
      <p:sp>
        <p:nvSpPr>
          <p:cNvPr id="21" name="Oval 20"/>
          <p:cNvSpPr/>
          <p:nvPr/>
        </p:nvSpPr>
        <p:spPr>
          <a:xfrm>
            <a:off x="4892040" y="5129784"/>
            <a:ext cx="256032" cy="256032"/>
          </a:xfrm>
          <a:prstGeom prst="ellipse">
            <a:avLst/>
          </a:prstGeom>
          <a:solidFill>
            <a:srgbClr val="113E73"/>
          </a:solidFill>
          <a:ln>
            <a:solidFill>
              <a:srgbClr val="113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5422392"/>
            <a:ext cx="914400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Atual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641848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rial"/>
              </a:rPr>
              <a:t>Responde com maior equilibrio, mais escuta e melhor foco em solucao.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70916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800600"/>
            <a:ext cx="48828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13E73"/>
                </a:solidFill>
                <a:latin typeface="Arial"/>
              </a:rPr>
              <a:t>Fala de apoio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5129784"/>
            <a:ext cx="4882896" cy="9052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A comparacao entre o inicio do acompanhamento e o momento atual mostra melhora na escuta, no controle da reacao emocional e na reducao de justificativas excessivas.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